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560C1-A19C-4BC3-9CAC-90ED75161DB2}" v="110" dt="2026-07-15T00:33:52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E7F92-99B2-4CD6-BE97-092D94F8DFA8}" type="datetimeFigureOut">
              <a:t>7/14/2026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A2C86-A48D-4915-99F0-10F3550131B4}" type="slidenum"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61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projeto e a equipe. 'Bom dia, vamos apresentar a pipeline híbrida de dados que construímos para acompanhar o indicador de alfabetização infantil no Brasil.'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de negócio: explicar por que alfabetização é prioridade nacional e por que o indicador de 743 pontos importa para medir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desafio: nenhuma dessas 6 fontes conta a história sozinha — precisamos integrá-las numa pipeline confiável.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Arquitetura: batch e streaming convergem para o S3, processados pelo Glue nas três camadas Medalhão, até chegar em dashboards e modelos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Detalhar rapidamente o que cada camada faz, reforçando que cada uma tem checks de qualidade antes de passar pra próxima.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as escolhas técnicas com foco em custo — esse é o ponto que mais interessa à liderança.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de negócio: esses 4 datasets já respondem perguntas reais de gestores educacionais.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 potencial futuro: essa base Gold já está pronta pra virar modelo preditivo, sem precisar refazer a engenharia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66928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híbrida para alfabetização no Brasil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Tech Challenge</a:t>
            </a:r>
            <a:r>
              <a:rPr lang="en-US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8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Fase 2  · </a:t>
            </a:r>
            <a:r>
              <a:rPr lang="en-US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Data Prepare</a:t>
            </a:r>
            <a:r>
              <a:rPr lang="en-US" sz="18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lang="en-US" sz="18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Arquitetura</a:t>
            </a:r>
            <a:r>
              <a:rPr lang="en-US" sz="18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Medalhão</a:t>
            </a:r>
            <a:r>
              <a:rPr lang="en-US" sz="18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8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nuvem</a:t>
            </a:r>
            <a:endParaRPr lang="en-US" sz="18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C7F36DD-A92D-CC9B-D648-25A6BEB08251}"/>
              </a:ext>
            </a:extLst>
          </p:cNvPr>
          <p:cNvSpPr/>
          <p:nvPr/>
        </p:nvSpPr>
        <p:spPr>
          <a:xfrm>
            <a:off x="1461588" y="6117045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br>
              <a:rPr lang="en-US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Ana Caroline Gonçalves Lima</a:t>
            </a:r>
            <a:endParaRPr lang="en-US"/>
          </a:p>
          <a:p>
            <a:r>
              <a:rPr lang="en-US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 RM 373735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de negócio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2379617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Compromisso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Nacional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Criança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Alfabetizada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mobiliza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estados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municípios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garantir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toda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criança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esteja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alfabetizada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até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o final do 2º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ano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ensino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fundamental.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 2023, o INEP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definiu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Pesquisa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Alfabetiza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Brasil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, o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ponto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de corte de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proficiência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caracteriza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criança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alfabetizada</a:t>
            </a:r>
            <a:r>
              <a:rPr lang="en-US" sz="15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500" dirty="0">
              <a:solidFill>
                <a:srgbClr val="1E2761"/>
              </a:solidFill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040880" y="1600200"/>
            <a:ext cx="4480560" cy="1737360"/>
          </a:xfrm>
          <a:prstGeom prst="roundRect">
            <a:avLst>
              <a:gd name="adj" fmla="val 6316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0" y="169164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0" y="2606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pontos</a:t>
            </a:r>
            <a:r>
              <a:rPr lang="en-US" sz="11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de corte </a:t>
            </a:r>
            <a:r>
              <a:rPr lang="en-US" sz="11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1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escala</a:t>
            </a:r>
            <a:r>
              <a:rPr lang="en-US" sz="11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Saeb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040880" y="3611880"/>
            <a:ext cx="4480560" cy="1737360"/>
          </a:xfrm>
          <a:prstGeom prst="roundRect">
            <a:avLst>
              <a:gd name="adj" fmla="val 6316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0" y="37033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0" y="4617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nacional: 100% das crianças brasileiras alfabetizadas ao final do 2º ano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 dados heterogêneos, em escala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fontes da Base dos Dados precisam ser combinadas para contar a história completa da alfabetização no país.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5856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221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por estado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22585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2221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por município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5320" y="225856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06840" y="22219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nacional de alfabetização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0873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050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por estado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37947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408736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4050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por município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46720" y="37947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5320" y="40873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06840" y="4050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Dados de </a:t>
            </a:r>
            <a:r>
              <a:rPr lang="en-US" sz="1350" b="1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alunos</a:t>
            </a:r>
            <a:endParaRPr lang="en-US" sz="135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err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Arquitetura</a:t>
            </a:r>
            <a:r>
              <a:rPr lang="en-US" sz="3000" b="1" dirty="0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híbrida</a:t>
            </a:r>
            <a:r>
              <a:rPr lang="en-US" sz="3000" b="1" dirty="0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 - </a:t>
            </a:r>
            <a:r>
              <a:rPr lang="en-US" sz="3000" b="1" dirty="0" err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Medalhão</a:t>
            </a:r>
            <a:r>
              <a:rPr lang="en-US" sz="3000" b="1" dirty="0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em</a:t>
            </a:r>
            <a:r>
              <a:rPr lang="en-US" sz="3000" b="1" dirty="0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mbria"/>
                <a:ea typeface="Cambria"/>
                <a:cs typeface="Cambria" pitchFamily="34" charset="-120"/>
              </a:rPr>
              <a:t>nuvem</a:t>
            </a:r>
            <a:endParaRPr lang="en-US" sz="3000" dirty="0" err="1">
              <a:latin typeface="Cambria"/>
              <a:ea typeface="Cambri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1F0E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26464"/>
            <a:ext cx="265176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dos Dados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9131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50" dirty="0">
                <a:solidFill>
                  <a:srgbClr val="3F7A5E"/>
                </a:solidFill>
                <a:latin typeface="Calibri"/>
                <a:ea typeface="Calibri"/>
                <a:cs typeface="Calibri"/>
              </a:rPr>
              <a:t>Batch - 6 </a:t>
            </a:r>
            <a:r>
              <a:rPr lang="en-US" sz="950" dirty="0" err="1">
                <a:solidFill>
                  <a:srgbClr val="3F7A5E"/>
                </a:solidFill>
                <a:latin typeface="Calibri"/>
                <a:ea typeface="Calibri"/>
                <a:cs typeface="Calibri"/>
              </a:rPr>
              <a:t>tabelas</a:t>
            </a:r>
            <a:endParaRPr lang="en-US" sz="9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BEAE3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426464"/>
            <a:ext cx="265176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79131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50" dirty="0">
                <a:solidFill>
                  <a:srgbClr val="9C4B2E"/>
                </a:solidFill>
                <a:latin typeface="Calibri"/>
                <a:ea typeface="Calibri"/>
                <a:cs typeface="Calibri"/>
              </a:rPr>
              <a:t>Streaming - </a:t>
            </a:r>
            <a:r>
              <a:rPr lang="en-US" sz="950" dirty="0" err="1">
                <a:solidFill>
                  <a:srgbClr val="9C4B2E"/>
                </a:solidFill>
                <a:latin typeface="Calibri"/>
                <a:ea typeface="Calibri"/>
                <a:cs typeface="Calibri"/>
              </a:rPr>
              <a:t>eventos</a:t>
            </a:r>
            <a:endParaRPr lang="en-US" sz="9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74520" y="2148840"/>
            <a:ext cx="0" cy="24688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54880" y="2148840"/>
            <a:ext cx="0" cy="24688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395728"/>
            <a:ext cx="5532120" cy="3246120"/>
          </a:xfrm>
          <a:prstGeom prst="roundRect">
            <a:avLst>
              <a:gd name="adj" fmla="val 3380"/>
            </a:avLst>
          </a:prstGeom>
          <a:solidFill>
            <a:srgbClr val="F4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87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S3 + AWS Glue - </a:t>
            </a:r>
            <a:r>
              <a:rPr lang="en-US" sz="1150" b="1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Arquitetura</a:t>
            </a:r>
            <a:r>
              <a:rPr lang="en-US" sz="1150" b="1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b="1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Medalhão</a:t>
            </a:r>
            <a:endParaRPr lang="en-US" sz="11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288036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35224"/>
            <a:ext cx="48463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30007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E6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 particionados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3657600"/>
            <a:ext cx="0" cy="15544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8680" y="3813048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67912"/>
            <a:ext cx="48463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23275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E6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joins e validação (DQ)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4590288"/>
            <a:ext cx="0" cy="15544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" y="4745736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00600"/>
            <a:ext cx="484632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16544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E6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Rankings, evolução e resumos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59893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044184"/>
            <a:ext cx="2468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3596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e clusters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5989320"/>
            <a:ext cx="246888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6044184"/>
            <a:ext cx="24688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BI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63596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e relatórios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80360" y="5522976"/>
            <a:ext cx="0" cy="466344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703320" y="5522976"/>
            <a:ext cx="4297680" cy="466344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Bronze, Silver e Gold em detalhe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7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 das 6 fontes, sem transformação de negócio. Hash de registros para rastreabilidade e histórico completo preservado.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7FC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Limpeza, padronização de tipos e nomes, remoção de duplicidade e integração entre as bases (joins por UF e município).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783080"/>
            <a:ext cx="640080" cy="640080"/>
          </a:xfrm>
          <a:prstGeom prst="ellipse">
            <a:avLst/>
          </a:prstGeom>
          <a:solidFill>
            <a:srgbClr val="9C4B2E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560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3063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analíticos prontos: ranking por UF e município, evolução temporal e resumo por rede de ensino.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e decisões arquiteturais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utilizada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Python + Pandas -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protótipo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local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rápido</a:t>
            </a:r>
            <a:endParaRPr lang="en-US" sz="13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PySpark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(AWS Glue) -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execução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distribuída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nuvem</a:t>
            </a:r>
            <a:endParaRPr lang="en-US" sz="13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Apache Kafka -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ingestão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streaming de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eventos</a:t>
            </a:r>
            <a:endParaRPr lang="en-US" sz="1300" dirty="0" err="1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Amazon S3 + Parquet - data lake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particionado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barato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Decisões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Batch para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metas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; streaming para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mudanças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metas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Worker G.1X no Glue —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dimensionado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ao</a:t>
            </a:r>
            <a:r>
              <a:rPr lang="en-US" sz="13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volume real de dados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</p:sp>
      <p:sp>
        <p:nvSpPr>
          <p:cNvPr id="8" name="Shape 6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6733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Logging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estruturado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todas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camadas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, com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contagem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registros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falhas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dataset.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388620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F4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23760" y="41879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75488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Parquet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particionado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, jobs Glue sob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demanda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e um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único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job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camada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menor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custo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agregado</a:t>
            </a:r>
            <a:r>
              <a:rPr lang="en-US" sz="1200" dirty="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análises educacionais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6733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UF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estados por taxa de alfabetização, ano e rede de ensino.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16733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município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municípios à frente ou atrás da meta nacional.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7307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temporal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1605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trajetória do indicador por UF ao longo dos anos.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4747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37307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por rede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416052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desempenho entre redes federal, estadual, municipal e privada.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camada Gold à inteligência artificial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 base </a:t>
            </a:r>
            <a:r>
              <a:rPr lang="en-US" sz="14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analítica</a:t>
            </a:r>
            <a:r>
              <a:rPr lang="en-US" sz="14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já</a:t>
            </a:r>
            <a:r>
              <a:rPr lang="en-US" sz="14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está</a:t>
            </a:r>
            <a:r>
              <a:rPr lang="en-US" sz="14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pronta</a:t>
            </a:r>
            <a:r>
              <a:rPr lang="en-US" sz="14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4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alimentar</a:t>
            </a:r>
            <a:r>
              <a:rPr lang="en-US" sz="1450" dirty="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50" dirty="0" err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modelos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preditivos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evolução do indicador de alfabetização por município a partir da série histórica.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Clusters de vulnerabilidade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municípios por padrões de desempenho, combinando com fontes externas (Censo, IBGE).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286000"/>
            <a:ext cx="640080" cy="640080"/>
          </a:xfrm>
          <a:prstGeom prst="ellipse">
            <a:avLst/>
          </a:prstGeom>
          <a:solidFill>
            <a:srgbClr val="9C4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públicas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66760" y="365760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redes e regiões com evidências para embasar decisões de investimento e prioridade.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37</cp:revision>
  <dcterms:created xsi:type="dcterms:W3CDTF">2026-07-15T00:23:25Z</dcterms:created>
  <dcterms:modified xsi:type="dcterms:W3CDTF">2026-07-15T00:34:58Z</dcterms:modified>
</cp:coreProperties>
</file>